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ielefeld/-/blob/4e789685015e76236900a4a831fc8e29c76a7142/_posts/2026-10-29-dachstuhl-bestandsaufnahme-tragwerksbestandteile.md" TargetMode="External"/><Relationship Id="rId3" Type="http://schemas.openxmlformats.org/officeDocument/2006/relationships/hyperlink" Target="https://holzundhaus.github.io/1aholzbaubielefeld/dateien/minimax-9f4764ab56352efdf1366c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Dachstuhl-Bestandsaufnahme: Sparren, Pfetten und Pfosten erkennen und beschreiben · Erklärende Präsentation</a:t>
            </a:r>
          </a:p>
        </p:txBody>
      </p:sp>
      <p:sp>
        <p:nvSpPr>
          <p:cNvPr id="3" name="Content Placeholder 2"/>
          <p:cNvSpPr>
            <a:spLocks noGrp="1"/>
          </p:cNvSpPr>
          <p:nvPr>
            <p:ph idx="1"/>
          </p:nvPr>
        </p:nvSpPr>
        <p:spPr/>
        <p:txBody>
          <a:bodyPr/>
          <a:lstStyle/>
          <a:p>
            <a:r>
              <a:t>Überblick: Wer den Dachstuhl sanieren, verstärken oder erweitern lassen möchte, kann mit einer sorgfältigen Bestandsaufnahme bereits viel Klarheit schaffen. Die Beobachtungen vor Ort ersetzen zwar keine statische Bewertung, machen die Anfrage aber verständlicher und helfen, verschiedene Angebote sinnvoll zu vergleichen. Dieser Leitfaden zeigt, welche Bauteile und Angaben für eine erste fachliche Einschätzung wichtig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wesentlichen Bauteile erkennen</a:t>
            </a:r>
          </a:p>
        </p:txBody>
      </p:sp>
      <p:sp>
        <p:nvSpPr>
          <p:cNvPr id="3" name="Content Placeholder 2"/>
          <p:cNvSpPr>
            <a:spLocks noGrp="1"/>
          </p:cNvSpPr>
          <p:nvPr>
            <p:ph idx="1"/>
          </p:nvPr>
        </p:nvSpPr>
        <p:spPr/>
        <p:txBody>
          <a:bodyPr/>
          <a:lstStyle/>
          <a:p>
            <a:pPr>
              <a:defRPr sz="1800"/>
            </a:pPr>
            <a:r>
              <a:t>Die zentralen Bestandteile eines klassischen Dachstuhls aus Holz sind Sparren, Pfetten und Pfosten. Sparren verlaufen schräg von der Traufe zum First und tragen die Dacheindeckung. Pfetten liegen quer zur Dachneigung und bündeln die Lasten mehrerer Sparren. Pfosten stehen senkrecht im Innenbereich und leiten Lasten nach unten weiter. Je nach Dachform kommen weitere Bauteile hinzu, etwa Streben, Zangen, Kopfbänder oder Binder. Für die Bestandsaufnahme genügt es zunächst, die drei Hauptgruppen sicher zu benennen und ihre Lage im Gebäude zu beschreiben. Zusätzlich sollten weitere sichtbare Elemente und deren Position in Skizzen oder Fotos festge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wesentlichen Bauteile erkennen</a:t>
            </a:r>
          </a:p>
        </p:txBody>
      </p:sp>
      <p:sp>
        <p:nvSpPr>
          <p:cNvPr id="3" name="Content Placeholder 2"/>
          <p:cNvSpPr>
            <a:spLocks noGrp="1"/>
          </p:cNvSpPr>
          <p:nvPr>
            <p:ph idx="1"/>
          </p:nvPr>
        </p:nvSpPr>
        <p:spPr/>
        <p:txBody>
          <a:bodyPr/>
          <a:lstStyle/>
          <a:p>
            <a:pPr>
              <a:defRPr sz="1800"/>
            </a:pPr>
            <a:r>
              <a:t>halten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 prüfen und dokumentieren</a:t>
            </a:r>
          </a:p>
        </p:txBody>
      </p:sp>
      <p:sp>
        <p:nvSpPr>
          <p:cNvPr id="3" name="Content Placeholder 2"/>
          <p:cNvSpPr>
            <a:spLocks noGrp="1"/>
          </p:cNvSpPr>
          <p:nvPr>
            <p:ph idx="1"/>
          </p:nvPr>
        </p:nvSpPr>
        <p:spPr/>
        <p:txBody>
          <a:bodyPr/>
          <a:lstStyle/>
          <a:p>
            <a:pPr>
              <a:defRPr sz="1800"/>
            </a:pPr>
            <a:r>
              <a:t>Bei jedem Sparren sind ungefähre Querschnittsmaße, der Abstand zwischen den einzelnen Sparren sowie die unteren und oberen Auflager zu notieren. Wichtig ist außerdem, ob die Hölzer gerade verlaufen oder sichtbar durchhängen, verdrehen oder sich verdreht darstellen. Auffällige Risse, dunkle Stellen, Auslaugungen, Insektenfraß oder mögliche Fäulnis sollten genau beschrieben und mit Fotos festgehalten. Auch erkennbare Beschädigungen an Lattung und Konterlattung können für die spätere Beurteilung wichtig sein. Wer die Abmessungen nicht sicher bestimmen kann, sollte dies ausdrücklich kennzeichnen, statt Werte zu schätzen, die anschließend als gesi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 prüfen und dokumentieren</a:t>
            </a:r>
          </a:p>
        </p:txBody>
      </p:sp>
      <p:sp>
        <p:nvSpPr>
          <p:cNvPr id="3" name="Content Placeholder 2"/>
          <p:cNvSpPr>
            <a:spLocks noGrp="1"/>
          </p:cNvSpPr>
          <p:nvPr>
            <p:ph idx="1"/>
          </p:nvPr>
        </p:nvSpPr>
        <p:spPr/>
        <p:txBody>
          <a:bodyPr/>
          <a:lstStyle/>
          <a:p>
            <a:pPr>
              <a:defRPr sz="1800"/>
            </a:pPr>
            <a:r>
              <a:t>chert erscheinen.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Pfetten und Pfosten genauer ansehen</a:t>
            </a:r>
          </a:p>
        </p:txBody>
      </p:sp>
      <p:sp>
        <p:nvSpPr>
          <p:cNvPr id="3" name="Content Placeholder 2"/>
          <p:cNvSpPr>
            <a:spLocks noGrp="1"/>
          </p:cNvSpPr>
          <p:nvPr>
            <p:ph idx="1"/>
          </p:nvPr>
        </p:nvSpPr>
        <p:spPr/>
        <p:txBody>
          <a:bodyPr/>
          <a:lstStyle/>
          <a:p>
            <a:pPr>
              <a:defRPr sz="1800"/>
            </a:pPr>
            <a:r>
              <a:t>Bei Pfetten interessieren neben den sichtbaren Abmessungen vor allem ihre Auflagerpunkte und Verbindungen. Es kann sich zeigen, ob sie direkt auf einer Wand, auf einem Pfosten oder auf einem Binder liegen. Verzapfungen, Versätze, Winkel, Balkenschuhe oder sichtbare Schrauben können Hinweise auf die Ausführung geben. Durchbiegungen, Verschiebungen und Risse sind ebenfalls festzuhalten. Für Pfosten zählen Anzahl und Lage im Grundriss, Querschnitt und die Art ihrer Aufstellung, etwa auf einer Schwelle, auf dem Boden oder in einer Aufdoppelung. Der Anschluss an die darüberliegende Pfette sowie Knicke, Verformungen oder Feuchteanzeichen sollten eb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Pfetten und Pfosten genauer ansehen</a:t>
            </a:r>
          </a:p>
        </p:txBody>
      </p:sp>
      <p:sp>
        <p:nvSpPr>
          <p:cNvPr id="3" name="Content Placeholder 2"/>
          <p:cNvSpPr>
            <a:spLocks noGrp="1"/>
          </p:cNvSpPr>
          <p:nvPr>
            <p:ph idx="1"/>
          </p:nvPr>
        </p:nvSpPr>
        <p:spPr/>
        <p:txBody>
          <a:bodyPr/>
          <a:lstStyle/>
          <a:p>
            <a:pPr>
              <a:defRPr sz="1800"/>
            </a:pPr>
            <a:r>
              <a:t>enfalls in die Dokumentation einfließen.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aussagekräftige Aufnahme anfertigen</a:t>
            </a:r>
          </a:p>
        </p:txBody>
      </p:sp>
      <p:sp>
        <p:nvSpPr>
          <p:cNvPr id="3" name="Content Placeholder 2"/>
          <p:cNvSpPr>
            <a:spLocks noGrp="1"/>
          </p:cNvSpPr>
          <p:nvPr>
            <p:ph idx="1"/>
          </p:nvPr>
        </p:nvSpPr>
        <p:spPr/>
        <p:txBody>
          <a:bodyPr/>
          <a:lstStyle/>
          <a:p>
            <a:pPr>
              <a:defRPr sz="1800"/>
            </a:pPr>
            <a:r>
              <a:t>Für jede Beobachtung bietet sich ein einheitlicher Ablauf an: Bauteil benennen, Lage beschreiben, Abmessungen notieren, Auffälligkeiten festhalten und ein Foto zuordnen. Sinnvoll ist außerdem eine skizzierte Übersicht des Dachraums, in der Traufseite, First, Giebel, Sparren, Pfetten und Pfosten eingetragen werden. Ergänzend gehören Baujahr, bekannte Umbauten oder Dacharbeiten, vorhandene Baupläne, Baubeschreibungen und frühere Statiken zur Vorbereitung. Auch eine geplante Änderung der Nutzung, etwa der spätere Einbau eines Dachgeschosses, kann für die Beurteilung wichtig sein. Fehlende Unterlagen sollten ausdrücklich benannt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richtig einordnen</a:t>
            </a:r>
          </a:p>
        </p:txBody>
      </p:sp>
      <p:sp>
        <p:nvSpPr>
          <p:cNvPr id="3" name="Content Placeholder 2"/>
          <p:cNvSpPr>
            <a:spLocks noGrp="1"/>
          </p:cNvSpPr>
          <p:nvPr>
            <p:ph idx="1"/>
          </p:nvPr>
        </p:nvSpPr>
        <p:spPr/>
        <p:txBody>
          <a:bodyPr/>
          <a:lstStyle/>
          <a:p>
            <a:pPr>
              <a:defRPr sz="1800"/>
            </a:pPr>
            <a:r>
              <a:t>Eine Bestandsaufnahme beschreibt den sichtbaren Zustand, sie beurteilt aber nicht die Tragfähigkeit. Ob ein Bauteil ausgetauscht, ertüchtigt oder ergänzt werden muss, lässt sich ohne weitergehende Fachplanung nicht verlässlich entscheiden. Die Unterlagen sollten daher zwischen sicher beobachteten Fakten und offenen Fragen unterscheiden. Bei auffälligen Verformungen, Rissen, Feuchteschäden, Verbindungsmitteln oder früheren Eingriffen empfiehlt sich eine gezielte Nachfrage. Bei Angebotsvergleichen helfen dieselbe Beschreibung des Bestands, Fotos und eine klare Beschreibung des geplanten Nutzens. So wird sichtbar, welche Arbeiten, Anschlüsse, Sc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richtig einordnen</a:t>
            </a:r>
          </a:p>
        </p:txBody>
      </p:sp>
      <p:sp>
        <p:nvSpPr>
          <p:cNvPr id="3" name="Content Placeholder 2"/>
          <p:cNvSpPr>
            <a:spLocks noGrp="1"/>
          </p:cNvSpPr>
          <p:nvPr>
            <p:ph idx="1"/>
          </p:nvPr>
        </p:nvSpPr>
        <p:spPr/>
        <p:txBody>
          <a:bodyPr/>
          <a:lstStyle/>
          <a:p>
            <a:pPr>
              <a:defRPr sz="1800"/>
            </a:pPr>
            <a:r>
              <a:t>hutzmaßnahmen und Entsorgungsleistungen jeweils enthalten sind und wo Annahmen oder Zielkonflikte bestehen.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Dachstuhl-Bestandsaufnahme: Sparren, Pfetten und Pfosten erkennen und beschreiben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